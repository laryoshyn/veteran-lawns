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Page" id="{13B708F1-57F5-4F73-B7BC-3240B44486AC}">
          <p14:sldIdLst>
            <p14:sldId id="256"/>
          </p14:sldIdLst>
        </p14:section>
        <p14:section name="Client Capture Process" id="{D99C423E-9129-4B2D-81EF-2D749621347F}">
          <p14:sldIdLst>
            <p14:sldId id="259"/>
            <p14:sldId id="257"/>
            <p14:sldId id="258"/>
            <p14:sldId id="260"/>
            <p14:sldId id="261"/>
            <p14:sldId id="262"/>
            <p14:sldId id="263"/>
          </p14:sldIdLst>
        </p14:section>
        <p14:section name="ROM Tool Function" id="{26ADC691-2B29-487E-B0FB-E0B86D8BB324}">
          <p14:sldIdLst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1CD273-A738-40FD-BEF7-DEFCEA5EA5B1}" v="2" dt="2026-01-31T01:05:56.6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Guy" userId="8232b01039591059" providerId="LiveId" clId="{CF97469C-4301-4FB1-BDDE-810E1C9912D8}"/>
    <pc:docChg chg="custSel addSld delSld modSld sldOrd addSection delSection modSection">
      <pc:chgData name="Robert Guy" userId="8232b01039591059" providerId="LiveId" clId="{CF97469C-4301-4FB1-BDDE-810E1C9912D8}" dt="2026-02-05T21:24:58.130" v="308" actId="18676"/>
      <pc:docMkLst>
        <pc:docMk/>
      </pc:docMkLst>
      <pc:sldChg chg="modSp mod">
        <pc:chgData name="Robert Guy" userId="8232b01039591059" providerId="LiveId" clId="{CF97469C-4301-4FB1-BDDE-810E1C9912D8}" dt="2026-01-31T01:06:11.042" v="175" actId="20577"/>
        <pc:sldMkLst>
          <pc:docMk/>
          <pc:sldMk cId="3906887083" sldId="266"/>
        </pc:sldMkLst>
        <pc:spChg chg="mod">
          <ac:chgData name="Robert Guy" userId="8232b01039591059" providerId="LiveId" clId="{CF97469C-4301-4FB1-BDDE-810E1C9912D8}" dt="2026-01-31T01:06:11.042" v="175" actId="20577"/>
          <ac:spMkLst>
            <pc:docMk/>
            <pc:sldMk cId="3906887083" sldId="266"/>
            <ac:spMk id="2" creationId="{5DE1E4A2-F955-94F6-181D-CE889E1E70DF}"/>
          </ac:spMkLst>
        </pc:spChg>
      </pc:sldChg>
      <pc:sldChg chg="addSp modSp new mod">
        <pc:chgData name="Robert Guy" userId="8232b01039591059" providerId="LiveId" clId="{CF97469C-4301-4FB1-BDDE-810E1C9912D8}" dt="2026-01-31T01:06:28.412" v="196" actId="20577"/>
        <pc:sldMkLst>
          <pc:docMk/>
          <pc:sldMk cId="905898746" sldId="267"/>
        </pc:sldMkLst>
        <pc:spChg chg="add mod">
          <ac:chgData name="Robert Guy" userId="8232b01039591059" providerId="LiveId" clId="{CF97469C-4301-4FB1-BDDE-810E1C9912D8}" dt="2026-01-31T01:06:28.412" v="196" actId="20577"/>
          <ac:spMkLst>
            <pc:docMk/>
            <pc:sldMk cId="905898746" sldId="267"/>
            <ac:spMk id="2" creationId="{27C676CF-CB96-5566-B891-B5F29FC9AE7A}"/>
          </ac:spMkLst>
        </pc:spChg>
      </pc:sldChg>
      <pc:sldChg chg="modSp add mod ord">
        <pc:chgData name="Robert Guy" userId="8232b01039591059" providerId="LiveId" clId="{CF97469C-4301-4FB1-BDDE-810E1C9912D8}" dt="2026-02-01T18:37:17.418" v="221"/>
        <pc:sldMkLst>
          <pc:docMk/>
          <pc:sldMk cId="1344834139" sldId="268"/>
        </pc:sldMkLst>
        <pc:spChg chg="mod">
          <ac:chgData name="Robert Guy" userId="8232b01039591059" providerId="LiveId" clId="{CF97469C-4301-4FB1-BDDE-810E1C9912D8}" dt="2026-01-31T01:06:38.454" v="217" actId="20577"/>
          <ac:spMkLst>
            <pc:docMk/>
            <pc:sldMk cId="1344834139" sldId="268"/>
            <ac:spMk id="2" creationId="{9782562B-86B0-0840-910D-899D6B479F7D}"/>
          </ac:spMkLst>
        </pc:spChg>
      </pc:sldChg>
      <pc:sldChg chg="delSp new del mod">
        <pc:chgData name="Robert Guy" userId="8232b01039591059" providerId="LiveId" clId="{CF97469C-4301-4FB1-BDDE-810E1C9912D8}" dt="2026-02-05T21:24:58.130" v="308" actId="18676"/>
        <pc:sldMkLst>
          <pc:docMk/>
          <pc:sldMk cId="3097257044" sldId="269"/>
        </pc:sldMkLst>
      </pc:sldChg>
      <pc:sldChg chg="modSp add del mod ord">
        <pc:chgData name="Robert Guy" userId="8232b01039591059" providerId="LiveId" clId="{CF97469C-4301-4FB1-BDDE-810E1C9912D8}" dt="2026-02-05T21:24:58.130" v="308" actId="18676"/>
        <pc:sldMkLst>
          <pc:docMk/>
          <pc:sldMk cId="3033070005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C1B09-EFA8-89AC-C8DE-B8BDBB8D55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215ED0-03D9-C12C-5BDC-9E58A0FD4C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59DA3-35E7-E925-D179-C7D16AF35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306-F87C-4071-B394-983B5AF28A4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2E26F-7CD2-07B5-B287-4AE5411A3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6A409-3A2D-0370-AB71-BF2FE510C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01EA9-C7CF-49A0-9B73-E6484BBB3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741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3F248-62AD-5B97-3272-B4DDA9E48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8E504-CC0D-3851-78B8-4B58570FC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50338-FC90-A079-7689-73604A060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306-F87C-4071-B394-983B5AF28A4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FD55C-320C-7096-5AB6-006913EBD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FF8A8-4A87-551C-A180-AFEC8C600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01EA9-C7CF-49A0-9B73-E6484BBB3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97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A4B40-8756-FC56-AED2-730135EAE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468F6-0E90-29F4-9653-A8FD1AF3A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EA434-0999-DC9F-717D-A7814D236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306-F87C-4071-B394-983B5AF28A4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D8B41-3E90-01B3-897C-E7AF54704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F9F70-9105-CAD4-F6BA-17B23CB9A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01EA9-C7CF-49A0-9B73-E6484BBB3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746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DCAD6-6CEF-B08C-1738-044707284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11D54-BA21-B37C-31EF-CD06E5F32E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1EA332-95EF-A01F-7514-35336A7B4A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08B65-7D6A-1C23-39D5-9F26E6BB7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306-F87C-4071-B394-983B5AF28A4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C3C1F5-1E67-F30C-6B6F-9491295DD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B4E04-5F5B-49C4-DE84-F9FB3B26C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01EA9-C7CF-49A0-9B73-E6484BBB3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218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CB91F-1DB3-EA37-A635-3A2D868B1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E110A-AAA2-125E-9F5D-727534F14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2D5D4E-3A19-F411-C7B5-3C4525897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3EEE50-AEBC-1AC1-7D77-46FF4883C3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B0DA0E-19EB-8BB8-B67B-E641DBFE55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FF1675-6F71-1E3F-08BF-3E1F8536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306-F87C-4071-B394-983B5AF28A4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B8A807-504E-E630-AA78-B35D33E43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63D7DE-7061-718C-4876-4C11A97C6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01EA9-C7CF-49A0-9B73-E6484BBB3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403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B02C7-CA61-AB2F-4AE0-6FA71C243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06C5A2-E006-A42A-B0F7-F13F8E02C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306-F87C-4071-B394-983B5AF28A4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22596E-D05B-4806-D01F-2C5EB07DD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216D66-5DB4-AF55-B57D-B0AFAFE0A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01EA9-C7CF-49A0-9B73-E6484BBB3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782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4A2727-C9AD-A386-1B7A-790F7D0B3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306-F87C-4071-B394-983B5AF28A4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8BD454-F9A3-11ED-523D-6BD2F1FA6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DF66A-56B8-6111-7E11-F75E0B495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01EA9-C7CF-49A0-9B73-E6484BBB3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947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CF8C1-B45E-D43B-24D0-6CE35C79A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5C934-7671-1408-9DD3-94C9D3C2D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994AAC-3534-4C44-8819-BB9B046C10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14396-E12E-1691-BCC9-875901F47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306-F87C-4071-B394-983B5AF28A4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225CE6-A0DC-A361-1711-1C26ABF88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DCE1B4-2382-E1EA-B3A2-A92A14711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01EA9-C7CF-49A0-9B73-E6484BBB3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655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AE9F6-C8A0-1BF5-F71C-6FC0A00FB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39DE1C-2F24-2DCF-575C-7361C17B32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B8519E-F6F9-D3A5-DD11-FACD0A7C5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98C661-B8AF-A801-D9E6-75C10381D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306-F87C-4071-B394-983B5AF28A4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33EA55-D9EC-D6F5-1DA1-6989EF0DD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91A4A-BF0A-E905-70E9-16E6BB88D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01EA9-C7CF-49A0-9B73-E6484BBB3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924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287D9-9836-E0CF-5EC0-C306A2C06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151C11-1261-2480-52E1-9978E8A06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ED98C-D634-6B31-7FC8-5901312A0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306-F87C-4071-B394-983B5AF28A4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D156F-64B6-0C05-0F18-131E684B7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1A50C-EC1E-7CAA-5F67-B773AD695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01EA9-C7CF-49A0-9B73-E6484BBB3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421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23EF6F-C2CD-C8D9-D887-E4C8F90123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668701-A23C-1892-9B09-E6F1A0FDFE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10220-FC25-5AC2-D0A7-2EADDCFDB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306-F87C-4071-B394-983B5AF28A4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91622-5115-343C-CFC7-EB35869CB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AF454-13B5-729A-5E85-FA8BA7838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01EA9-C7CF-49A0-9B73-E6484BBB3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794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20FC43-1152-FC0E-D66C-9DE24C0CA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316EF-EF18-9E7F-F72D-4BD37644E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EE41D-0C24-29E7-E2A1-E3C46F4ECB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C1F306-F87C-4071-B394-983B5AF28A4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D13CE-8504-A091-9AF6-354676186C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2C94D-113D-D545-15C6-B827333D34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901EA9-C7CF-49A0-9B73-E6484BBB3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495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7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84E85-6D2F-63BA-6EBE-A6229D55CB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Veteran: Lawns &amp; Landscapes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6D79A2-C33A-321F-FC37-0115A70861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“We’re the right guys for the job.”</a:t>
            </a:r>
          </a:p>
          <a:p>
            <a:r>
              <a:rPr lang="en-US" dirty="0"/>
              <a:t>www.veteranlawnsandlandscapes.com</a:t>
            </a:r>
          </a:p>
        </p:txBody>
      </p:sp>
    </p:spTree>
    <p:extLst>
      <p:ext uri="{BB962C8B-B14F-4D97-AF65-F5344CB8AC3E}">
        <p14:creationId xmlns:p14="http://schemas.microsoft.com/office/powerpoint/2010/main" val="1821843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1B821-D69D-414B-619A-293C14366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5465255" cy="656389"/>
          </a:xfrm>
        </p:spPr>
        <p:txBody>
          <a:bodyPr>
            <a:normAutofit/>
          </a:bodyPr>
          <a:lstStyle/>
          <a:p>
            <a:r>
              <a:rPr lang="en-US" sz="4000" dirty="0"/>
              <a:t>Client Capture Diagrams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D8BBC3-38FD-256D-6563-15AFDF2DC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69999"/>
            <a:ext cx="7488185" cy="1118001"/>
          </a:xfrm>
        </p:spPr>
        <p:txBody>
          <a:bodyPr/>
          <a:lstStyle/>
          <a:p>
            <a:r>
              <a:rPr lang="en-US" dirty="0"/>
              <a:t>Flowcharts showing client interaction with website</a:t>
            </a:r>
          </a:p>
          <a:p>
            <a:r>
              <a:rPr lang="en-US" dirty="0"/>
              <a:t>User selection of either lawncare or landscaping</a:t>
            </a:r>
          </a:p>
        </p:txBody>
      </p:sp>
    </p:spTree>
    <p:extLst>
      <p:ext uri="{BB962C8B-B14F-4D97-AF65-F5344CB8AC3E}">
        <p14:creationId xmlns:p14="http://schemas.microsoft.com/office/powerpoint/2010/main" val="3576021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Decision 1">
            <a:extLst>
              <a:ext uri="{FF2B5EF4-FFF2-40B4-BE49-F238E27FC236}">
                <a16:creationId xmlns:a16="http://schemas.microsoft.com/office/drawing/2014/main" id="{EF69B9EC-7EA1-FC4E-D8BE-2AD244CFB12B}"/>
              </a:ext>
            </a:extLst>
          </p:cNvPr>
          <p:cNvSpPr/>
          <p:nvPr/>
        </p:nvSpPr>
        <p:spPr>
          <a:xfrm>
            <a:off x="552659" y="462223"/>
            <a:ext cx="2491991" cy="1798655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User lands on page</a:t>
            </a:r>
          </a:p>
        </p:txBody>
      </p:sp>
      <p:sp>
        <p:nvSpPr>
          <p:cNvPr id="4" name="Flowchart: Data 3">
            <a:extLst>
              <a:ext uri="{FF2B5EF4-FFF2-40B4-BE49-F238E27FC236}">
                <a16:creationId xmlns:a16="http://schemas.microsoft.com/office/drawing/2014/main" id="{36E8DDDB-0DEA-BCE3-0F2F-DC5B08A8773F}"/>
              </a:ext>
            </a:extLst>
          </p:cNvPr>
          <p:cNvSpPr/>
          <p:nvPr/>
        </p:nvSpPr>
        <p:spPr>
          <a:xfrm>
            <a:off x="8531047" y="547633"/>
            <a:ext cx="2491991" cy="1627832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User enters basic information for follow-up</a:t>
            </a: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6444F8F1-6F4F-108B-F9F2-D4EE884C352A}"/>
              </a:ext>
            </a:extLst>
          </p:cNvPr>
          <p:cNvSpPr/>
          <p:nvPr/>
        </p:nvSpPr>
        <p:spPr>
          <a:xfrm>
            <a:off x="4657408" y="2632669"/>
            <a:ext cx="2260879" cy="1718267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User is directed to ROM tool for estimate</a:t>
            </a:r>
          </a:p>
        </p:txBody>
      </p:sp>
      <p:sp>
        <p:nvSpPr>
          <p:cNvPr id="6" name="Flowchart: Document 5">
            <a:extLst>
              <a:ext uri="{FF2B5EF4-FFF2-40B4-BE49-F238E27FC236}">
                <a16:creationId xmlns:a16="http://schemas.microsoft.com/office/drawing/2014/main" id="{D78782A6-6853-5EBD-BBD9-8294A4A792C1}"/>
              </a:ext>
            </a:extLst>
          </p:cNvPr>
          <p:cNvSpPr/>
          <p:nvPr/>
        </p:nvSpPr>
        <p:spPr>
          <a:xfrm>
            <a:off x="552658" y="4828226"/>
            <a:ext cx="2491991" cy="1798655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Lawncare quote is provided to user for acceptance</a:t>
            </a:r>
          </a:p>
        </p:txBody>
      </p:sp>
      <p:sp>
        <p:nvSpPr>
          <p:cNvPr id="7" name="Flowchart: Decision 6">
            <a:extLst>
              <a:ext uri="{FF2B5EF4-FFF2-40B4-BE49-F238E27FC236}">
                <a16:creationId xmlns:a16="http://schemas.microsoft.com/office/drawing/2014/main" id="{A0955BFA-60E2-1033-48CF-184872D4A738}"/>
              </a:ext>
            </a:extLst>
          </p:cNvPr>
          <p:cNvSpPr/>
          <p:nvPr/>
        </p:nvSpPr>
        <p:spPr>
          <a:xfrm>
            <a:off x="3567163" y="763672"/>
            <a:ext cx="4300695" cy="1195755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User selects lawncare</a:t>
            </a:r>
          </a:p>
        </p:txBody>
      </p:sp>
      <p:sp>
        <p:nvSpPr>
          <p:cNvPr id="8" name="Flowchart: Manual Input 7">
            <a:extLst>
              <a:ext uri="{FF2B5EF4-FFF2-40B4-BE49-F238E27FC236}">
                <a16:creationId xmlns:a16="http://schemas.microsoft.com/office/drawing/2014/main" id="{DD2CC674-5052-C63C-373D-51CD48836515}"/>
              </a:ext>
            </a:extLst>
          </p:cNvPr>
          <p:cNvSpPr/>
          <p:nvPr/>
        </p:nvSpPr>
        <p:spPr>
          <a:xfrm>
            <a:off x="4541851" y="4828226"/>
            <a:ext cx="2491991" cy="1798655"/>
          </a:xfrm>
          <a:prstGeom prst="flowChartManualIn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Customer enters payment information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C63C164-BA74-EBBF-2311-8115C79FB306}"/>
              </a:ext>
            </a:extLst>
          </p:cNvPr>
          <p:cNvCxnSpPr>
            <a:cxnSpLocks/>
            <a:stCxn id="2" idx="3"/>
            <a:endCxn id="7" idx="1"/>
          </p:cNvCxnSpPr>
          <p:nvPr/>
        </p:nvCxnSpPr>
        <p:spPr>
          <a:xfrm flipV="1">
            <a:off x="3044650" y="1361550"/>
            <a:ext cx="52251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674CB54-9CA2-51CF-1ACE-D56DB7594DDE}"/>
              </a:ext>
            </a:extLst>
          </p:cNvPr>
          <p:cNvCxnSpPr>
            <a:cxnSpLocks/>
            <a:stCxn id="7" idx="3"/>
            <a:endCxn id="4" idx="2"/>
          </p:cNvCxnSpPr>
          <p:nvPr/>
        </p:nvCxnSpPr>
        <p:spPr>
          <a:xfrm flipV="1">
            <a:off x="7867858" y="1361549"/>
            <a:ext cx="91238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lowchart: Predefined Process 24">
            <a:extLst>
              <a:ext uri="{FF2B5EF4-FFF2-40B4-BE49-F238E27FC236}">
                <a16:creationId xmlns:a16="http://schemas.microsoft.com/office/drawing/2014/main" id="{59527D6E-CD80-3983-E101-403EB937DECF}"/>
              </a:ext>
            </a:extLst>
          </p:cNvPr>
          <p:cNvSpPr/>
          <p:nvPr/>
        </p:nvSpPr>
        <p:spPr>
          <a:xfrm>
            <a:off x="8646600" y="4838274"/>
            <a:ext cx="2260879" cy="1788608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Stripe Banking processes payment</a:t>
            </a:r>
          </a:p>
        </p:txBody>
      </p:sp>
      <p:sp>
        <p:nvSpPr>
          <p:cNvPr id="26" name="Flowchart: Decision 25">
            <a:extLst>
              <a:ext uri="{FF2B5EF4-FFF2-40B4-BE49-F238E27FC236}">
                <a16:creationId xmlns:a16="http://schemas.microsoft.com/office/drawing/2014/main" id="{4F6F1282-A8CB-E247-3786-3E7E81D8AF8F}"/>
              </a:ext>
            </a:extLst>
          </p:cNvPr>
          <p:cNvSpPr/>
          <p:nvPr/>
        </p:nvSpPr>
        <p:spPr>
          <a:xfrm>
            <a:off x="552658" y="2632671"/>
            <a:ext cx="2491991" cy="1718267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User selects start date for service</a:t>
            </a:r>
          </a:p>
        </p:txBody>
      </p:sp>
      <p:sp>
        <p:nvSpPr>
          <p:cNvPr id="27" name="Flowchart: Data 26">
            <a:extLst>
              <a:ext uri="{FF2B5EF4-FFF2-40B4-BE49-F238E27FC236}">
                <a16:creationId xmlns:a16="http://schemas.microsoft.com/office/drawing/2014/main" id="{8D660979-942E-693B-9918-CAB09A416383}"/>
              </a:ext>
            </a:extLst>
          </p:cNvPr>
          <p:cNvSpPr/>
          <p:nvPr/>
        </p:nvSpPr>
        <p:spPr>
          <a:xfrm>
            <a:off x="8531045" y="2637688"/>
            <a:ext cx="2491991" cy="1713248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User enters address and lot information</a:t>
            </a: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37B60650-49C3-95D1-FE42-3CDE216C2F80}"/>
              </a:ext>
            </a:extLst>
          </p:cNvPr>
          <p:cNvCxnSpPr>
            <a:cxnSpLocks/>
            <a:stCxn id="4" idx="5"/>
            <a:endCxn id="26" idx="0"/>
          </p:cNvCxnSpPr>
          <p:nvPr/>
        </p:nvCxnSpPr>
        <p:spPr>
          <a:xfrm flipH="1">
            <a:off x="1798654" y="1361549"/>
            <a:ext cx="8975185" cy="1271122"/>
          </a:xfrm>
          <a:prstGeom prst="bentConnector4">
            <a:avLst>
              <a:gd name="adj1" fmla="val -2547"/>
              <a:gd name="adj2" fmla="val 8201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1DCF3BB-9017-D839-E634-DF9B832DF459}"/>
              </a:ext>
            </a:extLst>
          </p:cNvPr>
          <p:cNvCxnSpPr>
            <a:cxnSpLocks/>
            <a:stCxn id="26" idx="3"/>
            <a:endCxn id="5" idx="1"/>
          </p:cNvCxnSpPr>
          <p:nvPr/>
        </p:nvCxnSpPr>
        <p:spPr>
          <a:xfrm flipV="1">
            <a:off x="3044649" y="3491803"/>
            <a:ext cx="1612759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250516A-7FDF-DDC5-9995-5947F75D508D}"/>
              </a:ext>
            </a:extLst>
          </p:cNvPr>
          <p:cNvCxnSpPr>
            <a:cxnSpLocks/>
            <a:stCxn id="5" idx="3"/>
            <a:endCxn id="27" idx="2"/>
          </p:cNvCxnSpPr>
          <p:nvPr/>
        </p:nvCxnSpPr>
        <p:spPr>
          <a:xfrm>
            <a:off x="6918287" y="3491803"/>
            <a:ext cx="1861957" cy="25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232A448F-4A58-0FCE-EF40-0CF6B0BB2B0A}"/>
              </a:ext>
            </a:extLst>
          </p:cNvPr>
          <p:cNvCxnSpPr>
            <a:cxnSpLocks/>
            <a:stCxn id="27" idx="5"/>
            <a:endCxn id="6" idx="0"/>
          </p:cNvCxnSpPr>
          <p:nvPr/>
        </p:nvCxnSpPr>
        <p:spPr>
          <a:xfrm flipH="1">
            <a:off x="1798654" y="3494312"/>
            <a:ext cx="8975183" cy="1333914"/>
          </a:xfrm>
          <a:prstGeom prst="bentConnector4">
            <a:avLst>
              <a:gd name="adj1" fmla="val -2547"/>
              <a:gd name="adj2" fmla="val 8210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802EB2B-02A0-64D8-2AEC-F048CB6E5E69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3044649" y="5727554"/>
            <a:ext cx="14972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B0ADAF1-A29F-DC4D-4049-2C629F7961E9}"/>
              </a:ext>
            </a:extLst>
          </p:cNvPr>
          <p:cNvCxnSpPr>
            <a:cxnSpLocks/>
            <a:stCxn id="8" idx="3"/>
            <a:endCxn id="25" idx="1"/>
          </p:cNvCxnSpPr>
          <p:nvPr/>
        </p:nvCxnSpPr>
        <p:spPr>
          <a:xfrm>
            <a:off x="7033842" y="5727554"/>
            <a:ext cx="1612758" cy="5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lowchart: Off-page Connector 53">
            <a:extLst>
              <a:ext uri="{FF2B5EF4-FFF2-40B4-BE49-F238E27FC236}">
                <a16:creationId xmlns:a16="http://schemas.microsoft.com/office/drawing/2014/main" id="{1730ECED-E54C-6472-1E8B-92E7473E1FD8}"/>
              </a:ext>
            </a:extLst>
          </p:cNvPr>
          <p:cNvSpPr/>
          <p:nvPr/>
        </p:nvSpPr>
        <p:spPr>
          <a:xfrm>
            <a:off x="11151427" y="5562376"/>
            <a:ext cx="487915" cy="330353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hlinkClick r:id="rId2" action="ppaction://hlinksldjump"/>
              </a:rPr>
              <a:t>PG4</a:t>
            </a:r>
            <a:endParaRPr lang="en-US" sz="1000" dirty="0"/>
          </a:p>
        </p:txBody>
      </p:sp>
      <p:sp>
        <p:nvSpPr>
          <p:cNvPr id="55" name="Title 54">
            <a:extLst>
              <a:ext uri="{FF2B5EF4-FFF2-40B4-BE49-F238E27FC236}">
                <a16:creationId xmlns:a16="http://schemas.microsoft.com/office/drawing/2014/main" id="{CD0092B1-CFF7-04CE-EA68-E87D678EE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3443" y="90428"/>
            <a:ext cx="1828805" cy="624630"/>
          </a:xfrm>
        </p:spPr>
        <p:txBody>
          <a:bodyPr>
            <a:normAutofit/>
          </a:bodyPr>
          <a:lstStyle/>
          <a:p>
            <a:r>
              <a:rPr lang="en-US" sz="2600" dirty="0"/>
              <a:t>Lawncare</a:t>
            </a:r>
          </a:p>
        </p:txBody>
      </p:sp>
    </p:spTree>
    <p:extLst>
      <p:ext uri="{BB962C8B-B14F-4D97-AF65-F5344CB8AC3E}">
        <p14:creationId xmlns:p14="http://schemas.microsoft.com/office/powerpoint/2010/main" val="2818839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Merge 1">
            <a:extLst>
              <a:ext uri="{FF2B5EF4-FFF2-40B4-BE49-F238E27FC236}">
                <a16:creationId xmlns:a16="http://schemas.microsoft.com/office/drawing/2014/main" id="{2951BBD8-199F-6167-9FE7-C70B644F3689}"/>
              </a:ext>
            </a:extLst>
          </p:cNvPr>
          <p:cNvSpPr/>
          <p:nvPr/>
        </p:nvSpPr>
        <p:spPr>
          <a:xfrm>
            <a:off x="1371600" y="869183"/>
            <a:ext cx="2557306" cy="1291213"/>
          </a:xfrm>
          <a:prstGeom prst="flowChartMer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Customer is added to Field Route app</a:t>
            </a:r>
          </a:p>
        </p:txBody>
      </p:sp>
      <p:sp>
        <p:nvSpPr>
          <p:cNvPr id="3" name="Flowchart: Off-page Connector 2">
            <a:extLst>
              <a:ext uri="{FF2B5EF4-FFF2-40B4-BE49-F238E27FC236}">
                <a16:creationId xmlns:a16="http://schemas.microsoft.com/office/drawing/2014/main" id="{65D93969-C950-F2E2-0E02-B9CAE6093D41}"/>
              </a:ext>
            </a:extLst>
          </p:cNvPr>
          <p:cNvSpPr/>
          <p:nvPr/>
        </p:nvSpPr>
        <p:spPr>
          <a:xfrm>
            <a:off x="150725" y="1341454"/>
            <a:ext cx="421101" cy="346669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hlinkClick r:id="rId2" action="ppaction://hlinksldjump"/>
              </a:rPr>
              <a:t>PG3</a:t>
            </a:r>
            <a:endParaRPr lang="en-US" sz="1000" dirty="0"/>
          </a:p>
        </p:txBody>
      </p:sp>
      <p:sp>
        <p:nvSpPr>
          <p:cNvPr id="4" name="Flowchart: Manual Operation 3">
            <a:extLst>
              <a:ext uri="{FF2B5EF4-FFF2-40B4-BE49-F238E27FC236}">
                <a16:creationId xmlns:a16="http://schemas.microsoft.com/office/drawing/2014/main" id="{05710D18-90E7-38EF-6FAF-512D210CAF11}"/>
              </a:ext>
            </a:extLst>
          </p:cNvPr>
          <p:cNvSpPr/>
          <p:nvPr/>
        </p:nvSpPr>
        <p:spPr>
          <a:xfrm>
            <a:off x="4728680" y="924448"/>
            <a:ext cx="2160398" cy="1180681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Customer lawn is addressed each month</a:t>
            </a:r>
          </a:p>
        </p:txBody>
      </p:sp>
      <p:sp>
        <p:nvSpPr>
          <p:cNvPr id="5" name="Title 54">
            <a:extLst>
              <a:ext uri="{FF2B5EF4-FFF2-40B4-BE49-F238E27FC236}">
                <a16:creationId xmlns:a16="http://schemas.microsoft.com/office/drawing/2014/main" id="{1BB2D1A6-A67E-8A77-A2FC-77BFDCA74D1D}"/>
              </a:ext>
            </a:extLst>
          </p:cNvPr>
          <p:cNvSpPr txBox="1">
            <a:spLocks/>
          </p:cNvSpPr>
          <p:nvPr/>
        </p:nvSpPr>
        <p:spPr>
          <a:xfrm>
            <a:off x="4728680" y="205991"/>
            <a:ext cx="2734640" cy="447153"/>
          </a:xfrm>
          <a:prstGeom prst="rect">
            <a:avLst/>
          </a:prstGeom>
        </p:spPr>
        <p:txBody>
          <a:bodyPr>
            <a:normAutofit fontScale="6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Lawncare [cont.]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2EA5AB8-6948-FE5B-09E5-505253F8AF88}"/>
              </a:ext>
            </a:extLst>
          </p:cNvPr>
          <p:cNvCxnSpPr>
            <a:cxnSpLocks/>
            <a:stCxn id="3" idx="3"/>
            <a:endCxn id="2" idx="1"/>
          </p:cNvCxnSpPr>
          <p:nvPr/>
        </p:nvCxnSpPr>
        <p:spPr>
          <a:xfrm>
            <a:off x="571826" y="1514789"/>
            <a:ext cx="143910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26D1BF4-1A93-4B58-C371-D9486954F6FB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 flipV="1">
            <a:off x="3289580" y="1514789"/>
            <a:ext cx="165514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4282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5874C-666B-B603-97F2-576F944BE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Decision 1">
            <a:extLst>
              <a:ext uri="{FF2B5EF4-FFF2-40B4-BE49-F238E27FC236}">
                <a16:creationId xmlns:a16="http://schemas.microsoft.com/office/drawing/2014/main" id="{70767AF4-4715-522F-A658-999C032D3C4D}"/>
              </a:ext>
            </a:extLst>
          </p:cNvPr>
          <p:cNvSpPr/>
          <p:nvPr/>
        </p:nvSpPr>
        <p:spPr>
          <a:xfrm>
            <a:off x="552659" y="462223"/>
            <a:ext cx="2491991" cy="1798655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User lands on page</a:t>
            </a:r>
          </a:p>
        </p:txBody>
      </p:sp>
      <p:sp>
        <p:nvSpPr>
          <p:cNvPr id="4" name="Flowchart: Data 3">
            <a:extLst>
              <a:ext uri="{FF2B5EF4-FFF2-40B4-BE49-F238E27FC236}">
                <a16:creationId xmlns:a16="http://schemas.microsoft.com/office/drawing/2014/main" id="{16286326-16CC-A1AF-1872-02D0E7B71814}"/>
              </a:ext>
            </a:extLst>
          </p:cNvPr>
          <p:cNvSpPr/>
          <p:nvPr/>
        </p:nvSpPr>
        <p:spPr>
          <a:xfrm>
            <a:off x="8531047" y="547633"/>
            <a:ext cx="2491991" cy="1627832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User enters basic information for follow-up</a:t>
            </a: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06C0BFCB-A32C-5BE2-5835-9FD366BCA0D8}"/>
              </a:ext>
            </a:extLst>
          </p:cNvPr>
          <p:cNvSpPr/>
          <p:nvPr/>
        </p:nvSpPr>
        <p:spPr>
          <a:xfrm>
            <a:off x="4657408" y="2632669"/>
            <a:ext cx="2260879" cy="1718267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User is directed to ROM tool for estimate</a:t>
            </a:r>
          </a:p>
        </p:txBody>
      </p:sp>
      <p:sp>
        <p:nvSpPr>
          <p:cNvPr id="7" name="Flowchart: Decision 6">
            <a:extLst>
              <a:ext uri="{FF2B5EF4-FFF2-40B4-BE49-F238E27FC236}">
                <a16:creationId xmlns:a16="http://schemas.microsoft.com/office/drawing/2014/main" id="{74F5E7E6-9286-3818-F3DE-7A327F8088EC}"/>
              </a:ext>
            </a:extLst>
          </p:cNvPr>
          <p:cNvSpPr/>
          <p:nvPr/>
        </p:nvSpPr>
        <p:spPr>
          <a:xfrm>
            <a:off x="3567163" y="763672"/>
            <a:ext cx="4300695" cy="1195755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User selects landscaping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917FFE5-CCC4-9EF0-FC25-4344602FFE49}"/>
              </a:ext>
            </a:extLst>
          </p:cNvPr>
          <p:cNvCxnSpPr>
            <a:cxnSpLocks/>
            <a:stCxn id="2" idx="3"/>
            <a:endCxn id="7" idx="1"/>
          </p:cNvCxnSpPr>
          <p:nvPr/>
        </p:nvCxnSpPr>
        <p:spPr>
          <a:xfrm flipV="1">
            <a:off x="3044650" y="1361550"/>
            <a:ext cx="52251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CB8790A-96BE-2549-BF38-A93814EF069E}"/>
              </a:ext>
            </a:extLst>
          </p:cNvPr>
          <p:cNvCxnSpPr>
            <a:cxnSpLocks/>
            <a:stCxn id="7" idx="3"/>
            <a:endCxn id="4" idx="2"/>
          </p:cNvCxnSpPr>
          <p:nvPr/>
        </p:nvCxnSpPr>
        <p:spPr>
          <a:xfrm flipV="1">
            <a:off x="7867858" y="1361549"/>
            <a:ext cx="91238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lowchart: Decision 25">
            <a:extLst>
              <a:ext uri="{FF2B5EF4-FFF2-40B4-BE49-F238E27FC236}">
                <a16:creationId xmlns:a16="http://schemas.microsoft.com/office/drawing/2014/main" id="{4CD5A982-D817-AC8A-06F0-8250B626B10A}"/>
              </a:ext>
            </a:extLst>
          </p:cNvPr>
          <p:cNvSpPr/>
          <p:nvPr/>
        </p:nvSpPr>
        <p:spPr>
          <a:xfrm>
            <a:off x="552658" y="2632671"/>
            <a:ext cx="2491991" cy="1718267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User selects </a:t>
            </a:r>
            <a:r>
              <a:rPr lang="en-US" sz="1400" i="1" dirty="0"/>
              <a:t>desired </a:t>
            </a:r>
            <a:r>
              <a:rPr lang="en-US" sz="1400" dirty="0"/>
              <a:t>start date for service</a:t>
            </a:r>
          </a:p>
        </p:txBody>
      </p:sp>
      <p:sp>
        <p:nvSpPr>
          <p:cNvPr id="27" name="Flowchart: Data 26">
            <a:extLst>
              <a:ext uri="{FF2B5EF4-FFF2-40B4-BE49-F238E27FC236}">
                <a16:creationId xmlns:a16="http://schemas.microsoft.com/office/drawing/2014/main" id="{09CE1D54-86AD-83F7-EDBE-933F1A1DB94D}"/>
              </a:ext>
            </a:extLst>
          </p:cNvPr>
          <p:cNvSpPr/>
          <p:nvPr/>
        </p:nvSpPr>
        <p:spPr>
          <a:xfrm>
            <a:off x="8531045" y="2637688"/>
            <a:ext cx="2491991" cy="1713248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User enters address and lot information</a:t>
            </a: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6106148F-0732-76F7-11FC-2E325BBA091C}"/>
              </a:ext>
            </a:extLst>
          </p:cNvPr>
          <p:cNvCxnSpPr>
            <a:cxnSpLocks/>
            <a:stCxn id="4" idx="5"/>
            <a:endCxn id="26" idx="0"/>
          </p:cNvCxnSpPr>
          <p:nvPr/>
        </p:nvCxnSpPr>
        <p:spPr>
          <a:xfrm flipH="1">
            <a:off x="1798654" y="1361549"/>
            <a:ext cx="8975185" cy="1271122"/>
          </a:xfrm>
          <a:prstGeom prst="bentConnector4">
            <a:avLst>
              <a:gd name="adj1" fmla="val -2547"/>
              <a:gd name="adj2" fmla="val 8201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4AD61E9-0C26-10E2-8019-F9A89F1E9B59}"/>
              </a:ext>
            </a:extLst>
          </p:cNvPr>
          <p:cNvCxnSpPr>
            <a:cxnSpLocks/>
            <a:stCxn id="26" idx="3"/>
            <a:endCxn id="5" idx="1"/>
          </p:cNvCxnSpPr>
          <p:nvPr/>
        </p:nvCxnSpPr>
        <p:spPr>
          <a:xfrm flipV="1">
            <a:off x="3044649" y="3491803"/>
            <a:ext cx="1612759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A04CBB9-CC27-34BA-33FC-62BDCB288B33}"/>
              </a:ext>
            </a:extLst>
          </p:cNvPr>
          <p:cNvCxnSpPr>
            <a:cxnSpLocks/>
            <a:stCxn id="5" idx="3"/>
            <a:endCxn id="27" idx="2"/>
          </p:cNvCxnSpPr>
          <p:nvPr/>
        </p:nvCxnSpPr>
        <p:spPr>
          <a:xfrm>
            <a:off x="6918287" y="3491803"/>
            <a:ext cx="1861957" cy="25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lowchart: Off-page Connector 53">
            <a:extLst>
              <a:ext uri="{FF2B5EF4-FFF2-40B4-BE49-F238E27FC236}">
                <a16:creationId xmlns:a16="http://schemas.microsoft.com/office/drawing/2014/main" id="{A096FA69-3215-C305-2348-7A6E6AE05359}"/>
              </a:ext>
            </a:extLst>
          </p:cNvPr>
          <p:cNvSpPr/>
          <p:nvPr/>
        </p:nvSpPr>
        <p:spPr>
          <a:xfrm>
            <a:off x="11161371" y="5376368"/>
            <a:ext cx="477971" cy="405974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PG6</a:t>
            </a:r>
          </a:p>
        </p:txBody>
      </p:sp>
      <p:sp>
        <p:nvSpPr>
          <p:cNvPr id="55" name="Title 54">
            <a:extLst>
              <a:ext uri="{FF2B5EF4-FFF2-40B4-BE49-F238E27FC236}">
                <a16:creationId xmlns:a16="http://schemas.microsoft.com/office/drawing/2014/main" id="{608AA28F-8277-9E77-C12F-E21BBF68D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5088" y="79562"/>
            <a:ext cx="2044844" cy="624630"/>
          </a:xfrm>
        </p:spPr>
        <p:txBody>
          <a:bodyPr>
            <a:normAutofit/>
          </a:bodyPr>
          <a:lstStyle/>
          <a:p>
            <a:r>
              <a:rPr lang="en-US" sz="2600" dirty="0"/>
              <a:t>Landscaping</a:t>
            </a:r>
          </a:p>
        </p:txBody>
      </p:sp>
      <p:sp>
        <p:nvSpPr>
          <p:cNvPr id="3" name="Flowchart: Data 2">
            <a:extLst>
              <a:ext uri="{FF2B5EF4-FFF2-40B4-BE49-F238E27FC236}">
                <a16:creationId xmlns:a16="http://schemas.microsoft.com/office/drawing/2014/main" id="{813F464A-D603-F78C-FC4B-CD58E9DD8EEF}"/>
              </a:ext>
            </a:extLst>
          </p:cNvPr>
          <p:cNvSpPr/>
          <p:nvPr/>
        </p:nvSpPr>
        <p:spPr>
          <a:xfrm>
            <a:off x="552658" y="4722731"/>
            <a:ext cx="2491991" cy="1713248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User enters general project information via dropdown</a:t>
            </a:r>
          </a:p>
        </p:txBody>
      </p:sp>
      <p:sp>
        <p:nvSpPr>
          <p:cNvPr id="9" name="Flowchart: Predefined Process 8">
            <a:extLst>
              <a:ext uri="{FF2B5EF4-FFF2-40B4-BE49-F238E27FC236}">
                <a16:creationId xmlns:a16="http://schemas.microsoft.com/office/drawing/2014/main" id="{B361CF10-3025-62E6-D2D8-76F684279E67}"/>
              </a:ext>
            </a:extLst>
          </p:cNvPr>
          <p:cNvSpPr/>
          <p:nvPr/>
        </p:nvSpPr>
        <p:spPr>
          <a:xfrm>
            <a:off x="4657408" y="4722731"/>
            <a:ext cx="2260879" cy="1713248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ROM Project Evaluation Tool</a:t>
            </a:r>
          </a:p>
        </p:txBody>
      </p:sp>
      <p:sp>
        <p:nvSpPr>
          <p:cNvPr id="11" name="Flowchart: Decision 10">
            <a:extLst>
              <a:ext uri="{FF2B5EF4-FFF2-40B4-BE49-F238E27FC236}">
                <a16:creationId xmlns:a16="http://schemas.microsoft.com/office/drawing/2014/main" id="{FD030C9A-1F54-1FF1-69DF-39A23E217F5E}"/>
              </a:ext>
            </a:extLst>
          </p:cNvPr>
          <p:cNvSpPr/>
          <p:nvPr/>
        </p:nvSpPr>
        <p:spPr>
          <a:xfrm>
            <a:off x="8324052" y="4888526"/>
            <a:ext cx="2491991" cy="138165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User schedules PM visit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D8B3EA57-C877-417F-07E9-CCB0E10EEDB0}"/>
              </a:ext>
            </a:extLst>
          </p:cNvPr>
          <p:cNvCxnSpPr>
            <a:cxnSpLocks/>
            <a:stCxn id="27" idx="5"/>
            <a:endCxn id="3" idx="1"/>
          </p:cNvCxnSpPr>
          <p:nvPr/>
        </p:nvCxnSpPr>
        <p:spPr>
          <a:xfrm flipH="1">
            <a:off x="1798654" y="3494312"/>
            <a:ext cx="8975183" cy="1228419"/>
          </a:xfrm>
          <a:prstGeom prst="bentConnector4">
            <a:avLst>
              <a:gd name="adj1" fmla="val -2547"/>
              <a:gd name="adj2" fmla="val 8486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2396F6A-D543-F0AA-4C19-1F282B5331D1}"/>
              </a:ext>
            </a:extLst>
          </p:cNvPr>
          <p:cNvCxnSpPr>
            <a:cxnSpLocks/>
            <a:stCxn id="3" idx="5"/>
            <a:endCxn id="9" idx="1"/>
          </p:cNvCxnSpPr>
          <p:nvPr/>
        </p:nvCxnSpPr>
        <p:spPr>
          <a:xfrm>
            <a:off x="2795450" y="5579355"/>
            <a:ext cx="18619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3394006-F2D6-642B-85B4-0775ED78FB78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6918287" y="5579355"/>
            <a:ext cx="14057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9976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699A2-D1CD-A517-830B-8339C1012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Merge 1">
            <a:extLst>
              <a:ext uri="{FF2B5EF4-FFF2-40B4-BE49-F238E27FC236}">
                <a16:creationId xmlns:a16="http://schemas.microsoft.com/office/drawing/2014/main" id="{BC14B6A9-3790-8510-3A68-0962DE908D0C}"/>
              </a:ext>
            </a:extLst>
          </p:cNvPr>
          <p:cNvSpPr/>
          <p:nvPr/>
        </p:nvSpPr>
        <p:spPr>
          <a:xfrm>
            <a:off x="1021237" y="870010"/>
            <a:ext cx="2748224" cy="1289555"/>
          </a:xfrm>
          <a:prstGeom prst="flowChartMer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VLL PM arrives at customer residence</a:t>
            </a:r>
          </a:p>
        </p:txBody>
      </p:sp>
      <p:sp>
        <p:nvSpPr>
          <p:cNvPr id="3" name="Flowchart: Off-page Connector 2">
            <a:extLst>
              <a:ext uri="{FF2B5EF4-FFF2-40B4-BE49-F238E27FC236}">
                <a16:creationId xmlns:a16="http://schemas.microsoft.com/office/drawing/2014/main" id="{9C903689-E8AF-0B71-D50F-79735EB01087}"/>
              </a:ext>
            </a:extLst>
          </p:cNvPr>
          <p:cNvSpPr/>
          <p:nvPr/>
        </p:nvSpPr>
        <p:spPr>
          <a:xfrm>
            <a:off x="131872" y="1344701"/>
            <a:ext cx="433737" cy="340167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PG5</a:t>
            </a:r>
          </a:p>
        </p:txBody>
      </p:sp>
      <p:sp>
        <p:nvSpPr>
          <p:cNvPr id="5" name="Title 54">
            <a:extLst>
              <a:ext uri="{FF2B5EF4-FFF2-40B4-BE49-F238E27FC236}">
                <a16:creationId xmlns:a16="http://schemas.microsoft.com/office/drawing/2014/main" id="{F25E95F2-ABC7-679A-E0D4-E3EE67E07D68}"/>
              </a:ext>
            </a:extLst>
          </p:cNvPr>
          <p:cNvSpPr txBox="1">
            <a:spLocks/>
          </p:cNvSpPr>
          <p:nvPr/>
        </p:nvSpPr>
        <p:spPr>
          <a:xfrm>
            <a:off x="4190132" y="214863"/>
            <a:ext cx="2850471" cy="527115"/>
          </a:xfrm>
          <a:prstGeom prst="rect">
            <a:avLst/>
          </a:prstGeom>
        </p:spPr>
        <p:txBody>
          <a:bodyPr>
            <a:normAutofit fontScale="6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Landscaping [cont.]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CF8FC35-4C5A-E9E1-974E-3847FA34A5ED}"/>
              </a:ext>
            </a:extLst>
          </p:cNvPr>
          <p:cNvCxnSpPr>
            <a:cxnSpLocks/>
            <a:stCxn id="3" idx="3"/>
            <a:endCxn id="2" idx="1"/>
          </p:cNvCxnSpPr>
          <p:nvPr/>
        </p:nvCxnSpPr>
        <p:spPr>
          <a:xfrm>
            <a:off x="565609" y="1514785"/>
            <a:ext cx="1142684" cy="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B52AF424-379D-1523-40F9-0DB42C2DCB93}"/>
              </a:ext>
            </a:extLst>
          </p:cNvPr>
          <p:cNvSpPr/>
          <p:nvPr/>
        </p:nvSpPr>
        <p:spPr>
          <a:xfrm>
            <a:off x="4630474" y="1105676"/>
            <a:ext cx="1541076" cy="81821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VLL PM completes PRD</a:t>
            </a:r>
          </a:p>
        </p:txBody>
      </p:sp>
      <p:sp>
        <p:nvSpPr>
          <p:cNvPr id="12" name="Flowchart: Magnetic Disk 11">
            <a:extLst>
              <a:ext uri="{FF2B5EF4-FFF2-40B4-BE49-F238E27FC236}">
                <a16:creationId xmlns:a16="http://schemas.microsoft.com/office/drawing/2014/main" id="{C5908480-CF31-7034-4574-C987D40BEDDF}"/>
              </a:ext>
            </a:extLst>
          </p:cNvPr>
          <p:cNvSpPr/>
          <p:nvPr/>
        </p:nvSpPr>
        <p:spPr>
          <a:xfrm>
            <a:off x="1520227" y="3429000"/>
            <a:ext cx="1750243" cy="727396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ROM Estimation Tool</a:t>
            </a:r>
          </a:p>
        </p:txBody>
      </p:sp>
      <p:sp>
        <p:nvSpPr>
          <p:cNvPr id="13" name="Flowchart: Merge 12">
            <a:extLst>
              <a:ext uri="{FF2B5EF4-FFF2-40B4-BE49-F238E27FC236}">
                <a16:creationId xmlns:a16="http://schemas.microsoft.com/office/drawing/2014/main" id="{08380794-F283-2465-57BD-CC78E797A96D}"/>
              </a:ext>
            </a:extLst>
          </p:cNvPr>
          <p:cNvSpPr/>
          <p:nvPr/>
        </p:nvSpPr>
        <p:spPr>
          <a:xfrm>
            <a:off x="7226308" y="1063256"/>
            <a:ext cx="2592371" cy="903056"/>
          </a:xfrm>
          <a:prstGeom prst="flowChartMer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PRD uploaded to DB</a:t>
            </a:r>
          </a:p>
        </p:txBody>
      </p:sp>
      <p:sp>
        <p:nvSpPr>
          <p:cNvPr id="17" name="Flowchart: Document 16">
            <a:extLst>
              <a:ext uri="{FF2B5EF4-FFF2-40B4-BE49-F238E27FC236}">
                <a16:creationId xmlns:a16="http://schemas.microsoft.com/office/drawing/2014/main" id="{881C53F4-615D-AF34-0367-0EE211D6C732}"/>
              </a:ext>
            </a:extLst>
          </p:cNvPr>
          <p:cNvSpPr/>
          <p:nvPr/>
        </p:nvSpPr>
        <p:spPr>
          <a:xfrm>
            <a:off x="4074292" y="3429000"/>
            <a:ext cx="1541076" cy="727396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ROM T&amp;M Proposal</a:t>
            </a:r>
          </a:p>
        </p:txBody>
      </p:sp>
      <p:sp>
        <p:nvSpPr>
          <p:cNvPr id="18" name="Flowchart: Decision 17">
            <a:extLst>
              <a:ext uri="{FF2B5EF4-FFF2-40B4-BE49-F238E27FC236}">
                <a16:creationId xmlns:a16="http://schemas.microsoft.com/office/drawing/2014/main" id="{0FB31560-A9A2-7F33-5764-3F765127D83E}"/>
              </a:ext>
            </a:extLst>
          </p:cNvPr>
          <p:cNvSpPr/>
          <p:nvPr/>
        </p:nvSpPr>
        <p:spPr>
          <a:xfrm>
            <a:off x="6419189" y="3275110"/>
            <a:ext cx="2084771" cy="1055802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Customer Evaluates Proposal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27EF40-645F-0C8B-9CC2-896ABF8BA303}"/>
              </a:ext>
            </a:extLst>
          </p:cNvPr>
          <p:cNvSpPr txBox="1"/>
          <p:nvPr/>
        </p:nvSpPr>
        <p:spPr>
          <a:xfrm>
            <a:off x="9026333" y="3648236"/>
            <a:ext cx="5628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YES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FB5316-C449-AD79-8E44-D10552370CE2}"/>
              </a:ext>
            </a:extLst>
          </p:cNvPr>
          <p:cNvSpPr txBox="1"/>
          <p:nvPr/>
        </p:nvSpPr>
        <p:spPr>
          <a:xfrm>
            <a:off x="7226308" y="4772532"/>
            <a:ext cx="4705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</a:t>
            </a:r>
          </a:p>
        </p:txBody>
      </p:sp>
      <p:sp>
        <p:nvSpPr>
          <p:cNvPr id="21" name="Flowchart: Off-page Connector 20">
            <a:extLst>
              <a:ext uri="{FF2B5EF4-FFF2-40B4-BE49-F238E27FC236}">
                <a16:creationId xmlns:a16="http://schemas.microsoft.com/office/drawing/2014/main" id="{5A239488-3562-F6F8-2005-598D0BEAE40F}"/>
              </a:ext>
            </a:extLst>
          </p:cNvPr>
          <p:cNvSpPr/>
          <p:nvPr/>
        </p:nvSpPr>
        <p:spPr>
          <a:xfrm>
            <a:off x="7226307" y="5521929"/>
            <a:ext cx="470534" cy="307777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hlinkClick r:id="rId2" action="ppaction://hlinksldjump"/>
              </a:rPr>
              <a:t>PG7</a:t>
            </a:r>
            <a:endParaRPr lang="en-US" sz="1000" dirty="0"/>
          </a:p>
        </p:txBody>
      </p:sp>
      <p:sp>
        <p:nvSpPr>
          <p:cNvPr id="27" name="Flowchart: Off-page Connector 26">
            <a:extLst>
              <a:ext uri="{FF2B5EF4-FFF2-40B4-BE49-F238E27FC236}">
                <a16:creationId xmlns:a16="http://schemas.microsoft.com/office/drawing/2014/main" id="{804DE28C-C106-E060-9C24-8DBD01DEFBC4}"/>
              </a:ext>
            </a:extLst>
          </p:cNvPr>
          <p:cNvSpPr/>
          <p:nvPr/>
        </p:nvSpPr>
        <p:spPr>
          <a:xfrm>
            <a:off x="10111605" y="3649122"/>
            <a:ext cx="470534" cy="307777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hlinkClick r:id="rId3" action="ppaction://hlinksldjump"/>
              </a:rPr>
              <a:t>PG8</a:t>
            </a:r>
            <a:endParaRPr lang="en-US" sz="1000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3C84642-47FC-718D-5ACC-CF556CB15750}"/>
              </a:ext>
            </a:extLst>
          </p:cNvPr>
          <p:cNvCxnSpPr>
            <a:cxnSpLocks/>
            <a:stCxn id="2" idx="3"/>
            <a:endCxn id="10" idx="1"/>
          </p:cNvCxnSpPr>
          <p:nvPr/>
        </p:nvCxnSpPr>
        <p:spPr>
          <a:xfrm flipV="1">
            <a:off x="3082405" y="1514784"/>
            <a:ext cx="1548069" cy="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5CB6F75-DCAC-0E05-2136-4F51D7444022}"/>
              </a:ext>
            </a:extLst>
          </p:cNvPr>
          <p:cNvCxnSpPr>
            <a:cxnSpLocks/>
            <a:stCxn id="10" idx="3"/>
            <a:endCxn id="13" idx="1"/>
          </p:cNvCxnSpPr>
          <p:nvPr/>
        </p:nvCxnSpPr>
        <p:spPr>
          <a:xfrm>
            <a:off x="6171550" y="1514784"/>
            <a:ext cx="17028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A6361EA7-BBCC-F7E7-0314-43B3D40DFFB2}"/>
              </a:ext>
            </a:extLst>
          </p:cNvPr>
          <p:cNvCxnSpPr>
            <a:cxnSpLocks/>
            <a:stCxn id="13" idx="3"/>
            <a:endCxn id="12" idx="1"/>
          </p:cNvCxnSpPr>
          <p:nvPr/>
        </p:nvCxnSpPr>
        <p:spPr>
          <a:xfrm flipH="1">
            <a:off x="2395349" y="1514784"/>
            <a:ext cx="6775237" cy="1914216"/>
          </a:xfrm>
          <a:prstGeom prst="bentConnector4">
            <a:avLst>
              <a:gd name="adj1" fmla="val -3374"/>
              <a:gd name="adj2" fmla="val 6179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A59520E-302A-A583-0606-85345235D627}"/>
              </a:ext>
            </a:extLst>
          </p:cNvPr>
          <p:cNvCxnSpPr>
            <a:cxnSpLocks/>
            <a:stCxn id="12" idx="4"/>
            <a:endCxn id="17" idx="1"/>
          </p:cNvCxnSpPr>
          <p:nvPr/>
        </p:nvCxnSpPr>
        <p:spPr>
          <a:xfrm>
            <a:off x="3270470" y="3792698"/>
            <a:ext cx="8038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ECDDFFA-BEC9-A4FD-5229-0F41AD47EA51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5615368" y="3792698"/>
            <a:ext cx="803821" cy="10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72A210C-E785-FBC2-5D02-33DAB607A9AE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8503960" y="3802125"/>
            <a:ext cx="522373" cy="8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CD6FC8D-8D86-80E1-7ADD-D0FCC78CEE46}"/>
              </a:ext>
            </a:extLst>
          </p:cNvPr>
          <p:cNvCxnSpPr>
            <a:cxnSpLocks/>
            <a:stCxn id="19" idx="3"/>
            <a:endCxn id="27" idx="1"/>
          </p:cNvCxnSpPr>
          <p:nvPr/>
        </p:nvCxnSpPr>
        <p:spPr>
          <a:xfrm>
            <a:off x="9589232" y="3802125"/>
            <a:ext cx="522373" cy="8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14CA4F4-3535-AF97-DFAA-8DDDE5646B9C}"/>
              </a:ext>
            </a:extLst>
          </p:cNvPr>
          <p:cNvCxnSpPr>
            <a:cxnSpLocks/>
            <a:stCxn id="18" idx="2"/>
            <a:endCxn id="20" idx="0"/>
          </p:cNvCxnSpPr>
          <p:nvPr/>
        </p:nvCxnSpPr>
        <p:spPr>
          <a:xfrm>
            <a:off x="7461575" y="4330912"/>
            <a:ext cx="0" cy="441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AE6E00E-9A27-8874-B414-C459F63E07AB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 flipH="1">
            <a:off x="7461574" y="5080309"/>
            <a:ext cx="1" cy="441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4747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4">
            <a:extLst>
              <a:ext uri="{FF2B5EF4-FFF2-40B4-BE49-F238E27FC236}">
                <a16:creationId xmlns:a16="http://schemas.microsoft.com/office/drawing/2014/main" id="{277B6703-343B-D1A1-39DB-DD4C9107594D}"/>
              </a:ext>
            </a:extLst>
          </p:cNvPr>
          <p:cNvSpPr txBox="1">
            <a:spLocks/>
          </p:cNvSpPr>
          <p:nvPr/>
        </p:nvSpPr>
        <p:spPr>
          <a:xfrm>
            <a:off x="4339253" y="287516"/>
            <a:ext cx="2850471" cy="527115"/>
          </a:xfrm>
          <a:prstGeom prst="rect">
            <a:avLst/>
          </a:prstGeom>
        </p:spPr>
        <p:txBody>
          <a:bodyPr>
            <a:normAutofit fontScale="6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Landscaping [cont.]</a:t>
            </a:r>
          </a:p>
        </p:txBody>
      </p:sp>
      <p:sp>
        <p:nvSpPr>
          <p:cNvPr id="3" name="Flowchart: Delay 2">
            <a:extLst>
              <a:ext uri="{FF2B5EF4-FFF2-40B4-BE49-F238E27FC236}">
                <a16:creationId xmlns:a16="http://schemas.microsoft.com/office/drawing/2014/main" id="{44078A47-B459-C230-35AF-7FD50855DBA8}"/>
              </a:ext>
            </a:extLst>
          </p:cNvPr>
          <p:cNvSpPr/>
          <p:nvPr/>
        </p:nvSpPr>
        <p:spPr>
          <a:xfrm>
            <a:off x="1649691" y="820131"/>
            <a:ext cx="1131216" cy="1065230"/>
          </a:xfrm>
          <a:prstGeom prst="flowChartDela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VLL PM handles objection</a:t>
            </a:r>
          </a:p>
        </p:txBody>
      </p:sp>
      <p:sp>
        <p:nvSpPr>
          <p:cNvPr id="4" name="Flowchart: Off-page Connector 3">
            <a:extLst>
              <a:ext uri="{FF2B5EF4-FFF2-40B4-BE49-F238E27FC236}">
                <a16:creationId xmlns:a16="http://schemas.microsoft.com/office/drawing/2014/main" id="{FCEF6CAD-A9F8-9664-1071-1DE1EBE4F124}"/>
              </a:ext>
            </a:extLst>
          </p:cNvPr>
          <p:cNvSpPr/>
          <p:nvPr/>
        </p:nvSpPr>
        <p:spPr>
          <a:xfrm>
            <a:off x="518475" y="1140643"/>
            <a:ext cx="424206" cy="424206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hlinkClick r:id="rId2" action="ppaction://hlinksldjump"/>
              </a:rPr>
              <a:t>PG6</a:t>
            </a:r>
            <a:endParaRPr lang="en-US" sz="1000" dirty="0"/>
          </a:p>
        </p:txBody>
      </p:sp>
      <p:sp>
        <p:nvSpPr>
          <p:cNvPr id="6" name="Flowchart: Decision 5">
            <a:extLst>
              <a:ext uri="{FF2B5EF4-FFF2-40B4-BE49-F238E27FC236}">
                <a16:creationId xmlns:a16="http://schemas.microsoft.com/office/drawing/2014/main" id="{CD58DD9D-F53E-93ED-082F-3C2EE4D4337F}"/>
              </a:ext>
            </a:extLst>
          </p:cNvPr>
          <p:cNvSpPr/>
          <p:nvPr/>
        </p:nvSpPr>
        <p:spPr>
          <a:xfrm>
            <a:off x="3487916" y="820132"/>
            <a:ext cx="1923069" cy="1065229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Customer denies quote</a:t>
            </a:r>
          </a:p>
        </p:txBody>
      </p:sp>
      <p:sp>
        <p:nvSpPr>
          <p:cNvPr id="7" name="Flowchart: Card 6">
            <a:extLst>
              <a:ext uri="{FF2B5EF4-FFF2-40B4-BE49-F238E27FC236}">
                <a16:creationId xmlns:a16="http://schemas.microsoft.com/office/drawing/2014/main" id="{25A094AC-8105-2D74-C85E-69B89561A2A5}"/>
              </a:ext>
            </a:extLst>
          </p:cNvPr>
          <p:cNvSpPr/>
          <p:nvPr/>
        </p:nvSpPr>
        <p:spPr>
          <a:xfrm>
            <a:off x="6117994" y="820130"/>
            <a:ext cx="1131216" cy="106522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PM Leaves Card</a:t>
            </a:r>
          </a:p>
        </p:txBody>
      </p:sp>
      <p:sp>
        <p:nvSpPr>
          <p:cNvPr id="9" name="Flowchart: Multidocument 8">
            <a:extLst>
              <a:ext uri="{FF2B5EF4-FFF2-40B4-BE49-F238E27FC236}">
                <a16:creationId xmlns:a16="http://schemas.microsoft.com/office/drawing/2014/main" id="{8D84941E-0954-DFE6-EA88-22B3110C45F4}"/>
              </a:ext>
            </a:extLst>
          </p:cNvPr>
          <p:cNvSpPr/>
          <p:nvPr/>
        </p:nvSpPr>
        <p:spPr>
          <a:xfrm>
            <a:off x="7956219" y="820130"/>
            <a:ext cx="1131216" cy="1065229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PM updates file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D612C2-D728-626B-EFCA-021EDA6F013C}"/>
              </a:ext>
            </a:extLst>
          </p:cNvPr>
          <p:cNvCxnSpPr>
            <a:cxnSpLocks/>
            <a:stCxn id="4" idx="3"/>
            <a:endCxn id="3" idx="1"/>
          </p:cNvCxnSpPr>
          <p:nvPr/>
        </p:nvCxnSpPr>
        <p:spPr>
          <a:xfrm>
            <a:off x="942681" y="1352746"/>
            <a:ext cx="7070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072AE77-D38C-8E77-9AE3-FEB275F6F26F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2780907" y="1352746"/>
            <a:ext cx="70700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9536E2A-26C4-3D9A-647E-7DBFED2DCEFF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5410985" y="1352745"/>
            <a:ext cx="707009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3C33DC0-387D-C631-1F27-30370694440C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7249210" y="1352745"/>
            <a:ext cx="7070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1313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52DBE-E4D3-E40D-E7E4-50F4563B6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Manual Input 7">
            <a:extLst>
              <a:ext uri="{FF2B5EF4-FFF2-40B4-BE49-F238E27FC236}">
                <a16:creationId xmlns:a16="http://schemas.microsoft.com/office/drawing/2014/main" id="{D9772E76-CC32-4AD2-A12C-DA56CFB738F4}"/>
              </a:ext>
            </a:extLst>
          </p:cNvPr>
          <p:cNvSpPr/>
          <p:nvPr/>
        </p:nvSpPr>
        <p:spPr>
          <a:xfrm>
            <a:off x="6247754" y="1272281"/>
            <a:ext cx="1639701" cy="1225485"/>
          </a:xfrm>
          <a:prstGeom prst="flowChartManualIn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Customer enters payment information</a:t>
            </a:r>
          </a:p>
        </p:txBody>
      </p:sp>
      <p:sp>
        <p:nvSpPr>
          <p:cNvPr id="25" name="Flowchart: Predefined Process 24">
            <a:extLst>
              <a:ext uri="{FF2B5EF4-FFF2-40B4-BE49-F238E27FC236}">
                <a16:creationId xmlns:a16="http://schemas.microsoft.com/office/drawing/2014/main" id="{3D43FB02-9B04-ABDA-74CA-8DBB99C17062}"/>
              </a:ext>
            </a:extLst>
          </p:cNvPr>
          <p:cNvSpPr/>
          <p:nvPr/>
        </p:nvSpPr>
        <p:spPr>
          <a:xfrm>
            <a:off x="8334931" y="1272281"/>
            <a:ext cx="1666324" cy="1225485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Stripe Banking processes payment</a:t>
            </a:r>
          </a:p>
        </p:txBody>
      </p:sp>
      <p:sp>
        <p:nvSpPr>
          <p:cNvPr id="2" name="Flowchart: Off-page Connector 1">
            <a:extLst>
              <a:ext uri="{FF2B5EF4-FFF2-40B4-BE49-F238E27FC236}">
                <a16:creationId xmlns:a16="http://schemas.microsoft.com/office/drawing/2014/main" id="{776AE665-A3E7-79C6-ACF6-4968B6AE718D}"/>
              </a:ext>
            </a:extLst>
          </p:cNvPr>
          <p:cNvSpPr/>
          <p:nvPr/>
        </p:nvSpPr>
        <p:spPr>
          <a:xfrm>
            <a:off x="777660" y="1724000"/>
            <a:ext cx="414779" cy="329938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hlinkClick r:id="rId2" action="ppaction://hlinksldjump"/>
              </a:rPr>
              <a:t>PG6</a:t>
            </a:r>
            <a:endParaRPr lang="en-US" sz="1000" dirty="0"/>
          </a:p>
        </p:txBody>
      </p:sp>
      <p:sp>
        <p:nvSpPr>
          <p:cNvPr id="3" name="Flowchart: Manual Input 2">
            <a:extLst>
              <a:ext uri="{FF2B5EF4-FFF2-40B4-BE49-F238E27FC236}">
                <a16:creationId xmlns:a16="http://schemas.microsoft.com/office/drawing/2014/main" id="{770EA0C6-976F-BD94-509B-9F053357FCEE}"/>
              </a:ext>
            </a:extLst>
          </p:cNvPr>
          <p:cNvSpPr/>
          <p:nvPr/>
        </p:nvSpPr>
        <p:spPr>
          <a:xfrm>
            <a:off x="3877210" y="1272282"/>
            <a:ext cx="1923068" cy="1225484"/>
          </a:xfrm>
          <a:prstGeom prst="flowChartManualIn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Customer signs contract</a:t>
            </a:r>
          </a:p>
        </p:txBody>
      </p:sp>
      <p:sp>
        <p:nvSpPr>
          <p:cNvPr id="4" name="Flowchart: Data 3">
            <a:extLst>
              <a:ext uri="{FF2B5EF4-FFF2-40B4-BE49-F238E27FC236}">
                <a16:creationId xmlns:a16="http://schemas.microsoft.com/office/drawing/2014/main" id="{78689B06-841D-45E8-D6BC-C5F9D155191A}"/>
              </a:ext>
            </a:extLst>
          </p:cNvPr>
          <p:cNvSpPr/>
          <p:nvPr/>
        </p:nvSpPr>
        <p:spPr>
          <a:xfrm>
            <a:off x="1506666" y="1276227"/>
            <a:ext cx="1923068" cy="1225484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VLL PM confirms schedule</a:t>
            </a:r>
          </a:p>
        </p:txBody>
      </p:sp>
      <p:sp>
        <p:nvSpPr>
          <p:cNvPr id="6" name="Flowchart: Predefined Process 5">
            <a:extLst>
              <a:ext uri="{FF2B5EF4-FFF2-40B4-BE49-F238E27FC236}">
                <a16:creationId xmlns:a16="http://schemas.microsoft.com/office/drawing/2014/main" id="{338DC6E9-7899-CA79-B7BF-86788B197203}"/>
              </a:ext>
            </a:extLst>
          </p:cNvPr>
          <p:cNvSpPr/>
          <p:nvPr/>
        </p:nvSpPr>
        <p:spPr>
          <a:xfrm>
            <a:off x="1506666" y="3615662"/>
            <a:ext cx="1923068" cy="1225484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VLL Project Planning Process</a:t>
            </a:r>
          </a:p>
        </p:txBody>
      </p:sp>
      <p:sp>
        <p:nvSpPr>
          <p:cNvPr id="7" name="Flowchart: Manual Operation 6">
            <a:extLst>
              <a:ext uri="{FF2B5EF4-FFF2-40B4-BE49-F238E27FC236}">
                <a16:creationId xmlns:a16="http://schemas.microsoft.com/office/drawing/2014/main" id="{6F460548-1F6A-816B-A25A-F52C264D3870}"/>
              </a:ext>
            </a:extLst>
          </p:cNvPr>
          <p:cNvSpPr/>
          <p:nvPr/>
        </p:nvSpPr>
        <p:spPr>
          <a:xfrm>
            <a:off x="3877210" y="3615662"/>
            <a:ext cx="1923068" cy="1225484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VLL Executes Project</a:t>
            </a:r>
          </a:p>
        </p:txBody>
      </p:sp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F20E9AF0-6237-18C7-317D-2FD31027705A}"/>
              </a:ext>
            </a:extLst>
          </p:cNvPr>
          <p:cNvSpPr/>
          <p:nvPr/>
        </p:nvSpPr>
        <p:spPr>
          <a:xfrm>
            <a:off x="6247753" y="3615662"/>
            <a:ext cx="1639701" cy="1225484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Project Closeout Docs provided</a:t>
            </a:r>
          </a:p>
        </p:txBody>
      </p:sp>
      <p:sp>
        <p:nvSpPr>
          <p:cNvPr id="10" name="Flowchart: Multidocument 9">
            <a:extLst>
              <a:ext uri="{FF2B5EF4-FFF2-40B4-BE49-F238E27FC236}">
                <a16:creationId xmlns:a16="http://schemas.microsoft.com/office/drawing/2014/main" id="{E6B8A3B5-3693-7C17-5BAC-FE17BEAADE6B}"/>
              </a:ext>
            </a:extLst>
          </p:cNvPr>
          <p:cNvSpPr/>
          <p:nvPr/>
        </p:nvSpPr>
        <p:spPr>
          <a:xfrm>
            <a:off x="8334929" y="3615662"/>
            <a:ext cx="1666324" cy="1225484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Customer file updated</a:t>
            </a:r>
          </a:p>
        </p:txBody>
      </p:sp>
      <p:sp>
        <p:nvSpPr>
          <p:cNvPr id="11" name="Flowchart: Terminator 10">
            <a:extLst>
              <a:ext uri="{FF2B5EF4-FFF2-40B4-BE49-F238E27FC236}">
                <a16:creationId xmlns:a16="http://schemas.microsoft.com/office/drawing/2014/main" id="{24697E10-7E16-C80D-C998-6544462A23E8}"/>
              </a:ext>
            </a:extLst>
          </p:cNvPr>
          <p:cNvSpPr/>
          <p:nvPr/>
        </p:nvSpPr>
        <p:spPr>
          <a:xfrm>
            <a:off x="5286220" y="5757903"/>
            <a:ext cx="1923068" cy="961534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Project End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8E3F9BE-51F8-7A57-B900-95417614C181}"/>
              </a:ext>
            </a:extLst>
          </p:cNvPr>
          <p:cNvCxnSpPr>
            <a:cxnSpLocks/>
            <a:stCxn id="2" idx="3"/>
            <a:endCxn id="4" idx="2"/>
          </p:cNvCxnSpPr>
          <p:nvPr/>
        </p:nvCxnSpPr>
        <p:spPr>
          <a:xfrm>
            <a:off x="1192439" y="1888969"/>
            <a:ext cx="5065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79B4FF3-5311-7755-C445-644583C5228E}"/>
              </a:ext>
            </a:extLst>
          </p:cNvPr>
          <p:cNvCxnSpPr>
            <a:cxnSpLocks/>
            <a:stCxn id="4" idx="5"/>
            <a:endCxn id="3" idx="1"/>
          </p:cNvCxnSpPr>
          <p:nvPr/>
        </p:nvCxnSpPr>
        <p:spPr>
          <a:xfrm flipV="1">
            <a:off x="3237427" y="1885024"/>
            <a:ext cx="639783" cy="39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C1EE61C-8244-CD98-724F-433FE39EE402}"/>
              </a:ext>
            </a:extLst>
          </p:cNvPr>
          <p:cNvCxnSpPr>
            <a:cxnSpLocks/>
            <a:stCxn id="3" idx="3"/>
            <a:endCxn id="8" idx="1"/>
          </p:cNvCxnSpPr>
          <p:nvPr/>
        </p:nvCxnSpPr>
        <p:spPr>
          <a:xfrm>
            <a:off x="5800278" y="1885024"/>
            <a:ext cx="4474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850D718-B23F-59C0-3900-23CF3EF6C6B7}"/>
              </a:ext>
            </a:extLst>
          </p:cNvPr>
          <p:cNvCxnSpPr>
            <a:cxnSpLocks/>
            <a:stCxn id="8" idx="3"/>
            <a:endCxn id="25" idx="1"/>
          </p:cNvCxnSpPr>
          <p:nvPr/>
        </p:nvCxnSpPr>
        <p:spPr>
          <a:xfrm>
            <a:off x="7887455" y="1885024"/>
            <a:ext cx="4474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A4B43921-9B5F-3963-E8C9-FC1F2225D3BD}"/>
              </a:ext>
            </a:extLst>
          </p:cNvPr>
          <p:cNvCxnSpPr>
            <a:cxnSpLocks/>
            <a:stCxn id="25" idx="3"/>
            <a:endCxn id="6" idx="0"/>
          </p:cNvCxnSpPr>
          <p:nvPr/>
        </p:nvCxnSpPr>
        <p:spPr>
          <a:xfrm flipH="1">
            <a:off x="2468200" y="1885024"/>
            <a:ext cx="7533055" cy="1730638"/>
          </a:xfrm>
          <a:prstGeom prst="bentConnector4">
            <a:avLst>
              <a:gd name="adj1" fmla="val -3035"/>
              <a:gd name="adj2" fmla="val 6770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598AFA5-45A2-D711-1343-A5472FF59185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3429734" y="4228404"/>
            <a:ext cx="6397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D83522C-45CD-63F6-96EB-3ACFCE135453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5607971" y="4228404"/>
            <a:ext cx="6397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646C3A3-33B9-402C-4796-7578EB048A20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7887454" y="4228404"/>
            <a:ext cx="4474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2DBA5CD7-0669-9B7E-9B3B-1C07AD30A315}"/>
              </a:ext>
            </a:extLst>
          </p:cNvPr>
          <p:cNvCxnSpPr>
            <a:cxnSpLocks/>
            <a:stCxn id="10" idx="3"/>
            <a:endCxn id="11" idx="0"/>
          </p:cNvCxnSpPr>
          <p:nvPr/>
        </p:nvCxnSpPr>
        <p:spPr>
          <a:xfrm flipH="1">
            <a:off x="6247754" y="4228404"/>
            <a:ext cx="3753499" cy="1529499"/>
          </a:xfrm>
          <a:prstGeom prst="bentConnector4">
            <a:avLst>
              <a:gd name="adj1" fmla="val -6090"/>
              <a:gd name="adj2" fmla="val 7003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54">
            <a:extLst>
              <a:ext uri="{FF2B5EF4-FFF2-40B4-BE49-F238E27FC236}">
                <a16:creationId xmlns:a16="http://schemas.microsoft.com/office/drawing/2014/main" id="{D36F4C2A-3DD0-A24A-3595-1ACC1778CB99}"/>
              </a:ext>
            </a:extLst>
          </p:cNvPr>
          <p:cNvSpPr txBox="1">
            <a:spLocks/>
          </p:cNvSpPr>
          <p:nvPr/>
        </p:nvSpPr>
        <p:spPr>
          <a:xfrm>
            <a:off x="4182735" y="243975"/>
            <a:ext cx="2850471" cy="527115"/>
          </a:xfrm>
          <a:prstGeom prst="rect">
            <a:avLst/>
          </a:prstGeom>
        </p:spPr>
        <p:txBody>
          <a:bodyPr>
            <a:normAutofit fontScale="6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Landscaping [cont.]</a:t>
            </a:r>
          </a:p>
        </p:txBody>
      </p:sp>
    </p:spTree>
    <p:extLst>
      <p:ext uri="{BB962C8B-B14F-4D97-AF65-F5344CB8AC3E}">
        <p14:creationId xmlns:p14="http://schemas.microsoft.com/office/powerpoint/2010/main" val="4093142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D13FD-7BDD-015E-E385-5C678A10F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D4B81-B409-3DA7-2C48-5E9DDBA08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0"/>
            <a:ext cx="6332521" cy="769509"/>
          </a:xfrm>
        </p:spPr>
        <p:txBody>
          <a:bodyPr>
            <a:normAutofit/>
          </a:bodyPr>
          <a:lstStyle/>
          <a:p>
            <a:r>
              <a:rPr lang="en-US" sz="4000" u="sng" dirty="0"/>
              <a:t>ROM</a:t>
            </a:r>
            <a:r>
              <a:rPr lang="en-US" sz="4000" dirty="0"/>
              <a:t> </a:t>
            </a:r>
            <a:r>
              <a:rPr lang="en-US" sz="4000" u="sng" dirty="0"/>
              <a:t>Es</a:t>
            </a:r>
            <a:r>
              <a:rPr lang="en-US" sz="4000" dirty="0"/>
              <a:t>timation </a:t>
            </a:r>
            <a:r>
              <a:rPr lang="en-US" sz="4000" u="sng" dirty="0"/>
              <a:t>T</a:t>
            </a:r>
            <a:r>
              <a:rPr lang="en-US" sz="4000" dirty="0"/>
              <a:t>ool (REsT)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9C7C78-12F8-BC20-7905-CA6540698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69999"/>
            <a:ext cx="5465255" cy="2031939"/>
          </a:xfrm>
        </p:spPr>
        <p:txBody>
          <a:bodyPr>
            <a:normAutofit/>
          </a:bodyPr>
          <a:lstStyle/>
          <a:p>
            <a:r>
              <a:rPr lang="en-US" dirty="0"/>
              <a:t>Description of tool function</a:t>
            </a:r>
          </a:p>
          <a:p>
            <a:r>
              <a:rPr lang="en-US" dirty="0"/>
              <a:t>ROM Estimation Tool flow diagrams</a:t>
            </a:r>
          </a:p>
          <a:p>
            <a:r>
              <a:rPr lang="en-US" dirty="0"/>
              <a:t>	Lawncare</a:t>
            </a:r>
          </a:p>
          <a:p>
            <a:r>
              <a:rPr lang="en-US" dirty="0"/>
              <a:t>	Landscaping</a:t>
            </a:r>
          </a:p>
        </p:txBody>
      </p:sp>
    </p:spTree>
    <p:extLst>
      <p:ext uri="{BB962C8B-B14F-4D97-AF65-F5344CB8AC3E}">
        <p14:creationId xmlns:p14="http://schemas.microsoft.com/office/powerpoint/2010/main" val="3455735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1E4A2-F955-94F6-181D-CE889E1E70DF}"/>
              </a:ext>
            </a:extLst>
          </p:cNvPr>
          <p:cNvSpPr txBox="1">
            <a:spLocks/>
          </p:cNvSpPr>
          <p:nvPr/>
        </p:nvSpPr>
        <p:spPr>
          <a:xfrm>
            <a:off x="219109" y="239158"/>
            <a:ext cx="9169988" cy="171926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REsT: Description</a:t>
            </a:r>
          </a:p>
          <a:p>
            <a:endParaRPr lang="en-US" sz="2400" dirty="0"/>
          </a:p>
          <a:p>
            <a:r>
              <a:rPr lang="en-US" sz="2400" dirty="0"/>
              <a:t>This tool is expected to provide a quote to lawncare customers automatically, while serving as a quote preparation tool for Veteran: Lawns &amp; Landscapes (VLL) Project Managers.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907326-8E64-A01E-897C-836830194DD0}"/>
              </a:ext>
            </a:extLst>
          </p:cNvPr>
          <p:cNvSpPr txBox="1"/>
          <p:nvPr/>
        </p:nvSpPr>
        <p:spPr>
          <a:xfrm>
            <a:off x="735291" y="2162226"/>
            <a:ext cx="854068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Collaborative tool for use by VLL PM staff</a:t>
            </a:r>
          </a:p>
          <a:p>
            <a:endParaRPr lang="en-US" dirty="0"/>
          </a:p>
          <a:p>
            <a:r>
              <a:rPr lang="en-US" dirty="0"/>
              <a:t>Leverages county database to confirm plot size</a:t>
            </a:r>
          </a:p>
          <a:p>
            <a:endParaRPr lang="en-US" dirty="0"/>
          </a:p>
          <a:p>
            <a:r>
              <a:rPr lang="en-US" dirty="0"/>
              <a:t>Incorporates functionality like that found in Plan7Architect to support design development</a:t>
            </a:r>
          </a:p>
          <a:p>
            <a:endParaRPr lang="en-US" dirty="0"/>
          </a:p>
          <a:p>
            <a:r>
              <a:rPr lang="en-US" dirty="0"/>
              <a:t>Connects to vendor partner sites / catalogs to aid in price determination</a:t>
            </a:r>
          </a:p>
          <a:p>
            <a:endParaRPr lang="en-US" dirty="0"/>
          </a:p>
          <a:p>
            <a:r>
              <a:rPr lang="en-US" dirty="0"/>
              <a:t>Utilizes fillable forms for information capture</a:t>
            </a:r>
          </a:p>
          <a:p>
            <a:endParaRPr lang="en-US" dirty="0"/>
          </a:p>
          <a:p>
            <a:r>
              <a:rPr lang="en-US" dirty="0"/>
              <a:t>Connects to backend customer database to ensure records maintenance / availability</a:t>
            </a:r>
          </a:p>
        </p:txBody>
      </p:sp>
    </p:spTree>
    <p:extLst>
      <p:ext uri="{BB962C8B-B14F-4D97-AF65-F5344CB8AC3E}">
        <p14:creationId xmlns:p14="http://schemas.microsoft.com/office/powerpoint/2010/main" val="3906887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676CF-CB96-5566-B891-B5F29FC9AE7A}"/>
              </a:ext>
            </a:extLst>
          </p:cNvPr>
          <p:cNvSpPr txBox="1">
            <a:spLocks/>
          </p:cNvSpPr>
          <p:nvPr/>
        </p:nvSpPr>
        <p:spPr>
          <a:xfrm>
            <a:off x="219109" y="239159"/>
            <a:ext cx="9169988" cy="66519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REsT: Collaborative Quote Generation - Lawncare</a:t>
            </a:r>
          </a:p>
        </p:txBody>
      </p:sp>
    </p:spTree>
    <p:extLst>
      <p:ext uri="{BB962C8B-B14F-4D97-AF65-F5344CB8AC3E}">
        <p14:creationId xmlns:p14="http://schemas.microsoft.com/office/powerpoint/2010/main" val="905898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FB1C7-06F0-7F11-E8B8-B3FDB28A9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2562B-86B0-0840-910D-899D6B479F7D}"/>
              </a:ext>
            </a:extLst>
          </p:cNvPr>
          <p:cNvSpPr txBox="1">
            <a:spLocks/>
          </p:cNvSpPr>
          <p:nvPr/>
        </p:nvSpPr>
        <p:spPr>
          <a:xfrm>
            <a:off x="219109" y="239159"/>
            <a:ext cx="9169988" cy="66519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REsT: Collaborative Quote Generation - Landscaping </a:t>
            </a:r>
          </a:p>
        </p:txBody>
      </p:sp>
    </p:spTree>
    <p:extLst>
      <p:ext uri="{BB962C8B-B14F-4D97-AF65-F5344CB8AC3E}">
        <p14:creationId xmlns:p14="http://schemas.microsoft.com/office/powerpoint/2010/main" val="1344834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1400</TotalTime>
  <Words>366</Words>
  <Application>Microsoft Office PowerPoint</Application>
  <PresentationFormat>Widescreen</PresentationFormat>
  <Paragraphs>82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Veteran: Lawns &amp; Landscapes</vt:lpstr>
      <vt:lpstr>Client Capture Diagrams</vt:lpstr>
      <vt:lpstr>Lawncare</vt:lpstr>
      <vt:lpstr>PowerPoint Presentation</vt:lpstr>
      <vt:lpstr>Landscaping</vt:lpstr>
      <vt:lpstr>PowerPoint Presentation</vt:lpstr>
      <vt:lpstr>PowerPoint Presentation</vt:lpstr>
      <vt:lpstr>PowerPoint Presentation</vt:lpstr>
      <vt:lpstr>ROM Estimation Tool (REsT)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Guy</dc:creator>
  <cp:lastModifiedBy>Robert Guy</cp:lastModifiedBy>
  <cp:revision>4</cp:revision>
  <dcterms:created xsi:type="dcterms:W3CDTF">2026-01-20T17:47:36Z</dcterms:created>
  <dcterms:modified xsi:type="dcterms:W3CDTF">2026-02-05T21:25:02Z</dcterms:modified>
</cp:coreProperties>
</file>